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902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0" y="0"/>
            <a:ext cx="62453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9BD5"/>
                </a:solidFill>
              </a:rPr>
              <a:t>휴먼컨설팅그룹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46304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롯데알미늄 직무기반 HR 제도 설계 및 도입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108960"/>
            <a:ext cx="1097280" cy="25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329184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- 제안서 -
2026.03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6492240"/>
            <a:ext cx="5879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08080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9171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3887"/>
                </a:solidFill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5400" cy="521208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8988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I.    제안 개요 및 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8988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II.   수행 방안 (직무체계 / 평가 / 보상)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8988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III.  추진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8988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Appendix.  HCG 소개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I. Project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Project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롯데알미늄의 직무체계 및 평가/보상제도 운영방안 도출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[추진 내용] 직무체계 및 평가/보상제도 운영방안 도출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[추진 프로세스] 현황 진단 및 방향성 수립 → 직무분류체계 수립 및 직무기술서 도출 → 보상/평가제도 개선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[추진 방안(잠정)] ① 그룹사 직무 Guideline 현황 Quick Review·개선방향 도출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② AI 활용 직무분류체계 초안 도출 및 Fine-tuning/Customization·직무기술서 작성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③ 직무/업무 특성을 반영한 성과관리체계 수립·평가 운영체계 개선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④ 보상 원칙/전략 및 보상 운영방안 수립·보상 재원 Simulation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[추진 기간] 12주  |  [투입 인력] PM 1명 + 컨설턴트 2명  |  [추진 금액] 225,000천원(VAT별도)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I. Client's Needs &amp; Pain 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Client's Needs &amp; Pain 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직무체계/평가 및 보상제도 미흡에 따른 인사제도 개편이 필요하나, 기존의 컨설팅 방식은 많은 자원이 장기간 투입되어 효율적인 HR제도 정비가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[파편화된 데이터와 수동적 HR 운영의 악순환]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과거 History·현황 파악 등에 많은 시간/비용 소요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설계 과정에서 Interview·Survey 등 구성원에게 부담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일부 직군·구성원은 수용성이 떨어져 평가 결과에 불만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인력별 업무/직무 가치 파악 어려움 / 현행화되지 않은 직무 정보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[유기적 연결이 부족한 컨설팅 결과물]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객관적 데이터 부재 : 기준이 없거나 노후화된 데이터로 HR 제도에 대한 구성원의 신뢰/수용성 하락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High Cost, Low Return : 막대한 리소스 투입 대비 실무 적용이 어려운 산출물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사후관리 부재 : 변화관리가 이뤄지지 않아 기존 방식으로 회귀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I. HCG's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HCG's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HR 전문가의 지식/경험과 글로벌 표준을 집대성한 '표준 설계도'를 기반으로 AI를 활용해 직무 기반 HR제도 개선에 대한 Pain Point를 쉽고, 정확하고, 효율적인 방법으로 해소함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[AI를 활용해 즉시 활용 가능한 고객 맞춤형 직무체계 구축 및 직무 특성/가치를 반영한 평가/보상제도 수립 가능]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기존 컨설팅 방식: 수작업 기반 / 시간·비용 과다 / 현행화 한계 / 사후관리 부재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VS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HCG AI Approach: 표준을 빠르게 만들고 → 고객과 Customize → 납득성 높은 결과 도출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핵심: '텍스트가 아니라 표준을 빠르게 만든다' — AI가 초안, 전문가와 협업해 Customization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9BD5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9171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887"/>
                </a:solidFill>
              </a:rPr>
              <a:t>[참고] 高맥락 컨설팅 접근 방식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9171432" cy="127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926287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</a:rPr>
              <a:t>HCG는 겉으로 드러난 문맥만으로는 반영하기 어려운 고객사 고유의 비언어적 맥락(HR Gene)을 이해/반영하고, 이를 HR 모듈에 즉각 적용함</a:t>
            </a:r>
          </a:p>
          <a:p>
            <a:r>
              <a:rPr sz="1100" b="0">
                <a:solidFill>
                  <a:srgbClr val="1A1A1A"/>
                </a:solidFill>
              </a:rPr>
              <a:t/>
            </a:r>
          </a:p>
          <a:p>
            <a:r>
              <a:rPr sz="1100" b="0">
                <a:solidFill>
                  <a:srgbClr val="1A1A1A"/>
                </a:solidFill>
              </a:rPr>
              <a:t>[해소 방안 ①] 회사가 가지고 있는 암묵적 'HR Gene'을 이해하고 Context로서 활용</a:t>
            </a:r>
          </a:p>
          <a:p>
            <a:r>
              <a:rPr sz="1100" b="0">
                <a:solidFill>
                  <a:srgbClr val="1A1A1A"/>
                </a:solidFill>
              </a:rPr>
              <a:t>  — 그룹의 인재 활용 철학·조직문화·구성원 경험의 변화사 등 맥락에 대한 이해 선행 필요</a:t>
            </a:r>
          </a:p>
          <a:p>
            <a:r>
              <a:rPr sz="1100" b="0">
                <a:solidFill>
                  <a:srgbClr val="1A1A1A"/>
                </a:solidFill>
              </a:rPr>
              <a:t/>
            </a:r>
          </a:p>
          <a:p>
            <a:r>
              <a:rPr sz="1100" b="0">
                <a:solidFill>
                  <a:srgbClr val="1A1A1A"/>
                </a:solidFill>
              </a:rPr>
              <a:t>[해소 방안 ②] 필요에 따라 다양한 비정형적 Data 활용</a:t>
            </a:r>
          </a:p>
          <a:p>
            <a:r>
              <a:rPr sz="1100" b="0">
                <a:solidFill>
                  <a:srgbClr val="1A1A1A"/>
                </a:solidFill>
              </a:rPr>
              <a:t>  — HR 모듈별 필요에 따라 비정형 Data를 유연하게 활용하여 고객사 최적화 HR제도 운영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I. 유사 프로젝트 수행 사례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유사 프로젝트 수행 사례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국내 대기업 및 다수의 기업 대상 직무 기반의 HR제도 컨설팅 수행 실적을 통해 관련 주제에 대한 폭넓은 컨설팅 경험을 토대로 최적의 프로젝트 결과를 제공할 것임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직무기반 조직재설계 / 조직 재설계(직무 설계 포함)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조직구조 재설계 및 직무별 인력운영 구축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직무 기반 보상·평가 및 인사제도 전반 개선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직군별 인사관리 및 인력 효율화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직무성과주의 평가/보상제도 구축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직무분석 및 인사제도 개선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조직/직무 설계 및 인력계획 수립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조직 및 직무·평가·보상제도 개선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직무 및 업무분석을 통한 인력 효율화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직무체계 및 평가제도 개선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II. 직무체계 개선   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직무체계 개선   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지주사의 직무 분류 철학을 계승하되, AI 기반의 글로벌 벤치마킹과 생산 현장의 특수성을 반영하여 신속하게 롯데알미늄에 최적화된 표준 직무체계를 수립할 것을 제안함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Step 1. Analysis — 직무 조사 및 분석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구성원 대상 수행 중인 업무 목록·소요 시간·필요 역량 등 작성 요청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SME 인터뷰를 통해 검증/조정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Step 2. Classification — 직군 정의 및 직무 도출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산업의 가치사슬·업무의 성격 등을 기준으로 유사한 대분류 설정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직무 정의·목표·과업·자격 요건 등 확인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Step 3. Evaluation — 직무가치 평가/등급 도출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직무 가치를 기준에 따라 점수화해 평가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도출된 점수를 바탕으로 직무 등급화(평가/보상 연계 가능)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II. 직무체계 개선   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직무체계 개선   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'AI + HCG DB'를 통해 직무를 빠르게 분석 후 Communication Lead Time을 최소화해 고객 요구사항이 내재화된 직무체계를 수립하고, 이를 기반으로 직무평가를 진행함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[지주사 Guideline] 지주사 직무분류 원칙을 롯데알미늄 비즈니스 맥락에 맞게 해석/적용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[AI-base Benchmark] AI를 활용해 종합 포장 소재 산업의 Global Standard 및 Best Practice 수집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[JobStandardSetting] 직무분류체계 + 직무기술서 → Agile Delivery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[Context &amp; History] 현장 맥락·과거 이력 반영 → Finalize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산출물: 직무분류체계(XLSX) / 직무기술서(XLSX)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II. 직무체계 개선    직무체계 표준화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직무체계 개선    직무체계 표준화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공장별로 상이했던 직무 기준을 Global Standard에 맞춰 통합함으로써, 직무 운영의 비효율을 해소하고 일관된 평가/인재관리 효과성을 제고할 것임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[파편화된 직무체계 및 표준화 한계]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공장별 독자적 업무 수행으로 직무분류체계 표준화 어려움(직무 단위 불일치)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직무분류 기준 부재로 직무 중복·비효율적 인력 배치 발생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공통된 요구 역량 기준 없어 일관된 평가/육성 연계 한계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[Global Standard 기반 직무/Skill 표준화 — 개선 방향]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Global 표준 직무 정의/Skill Set 등 기준 명확화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각 공장의 Value Chain과 업무 방식을 新 표준에 맞게 재편(비효율 및 중복 해소)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직무별 요구되는 Skill 정의 및 수준을 전사 공통으로 규격화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9BD5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9171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887"/>
                </a:solidFill>
              </a:rPr>
              <a:t>[참고] Global Job Skill 분석 결과 예시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9171432" cy="127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926287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</a:rPr>
              <a:t>HCG JobSkillEngine (Claude API 기반) 활용 시 산업별 직무분류체계·직무기술서·스킬디렉토리 자동 생성 결과 예시</a:t>
            </a:r>
          </a:p>
          <a:p>
            <a:r>
              <a:rPr sz="1100" b="0">
                <a:solidFill>
                  <a:srgbClr val="1A1A1A"/>
                </a:solidFill>
              </a:rPr>
              <a:t/>
            </a:r>
          </a:p>
          <a:p>
            <a:r>
              <a:rPr sz="1100" b="0">
                <a:solidFill>
                  <a:srgbClr val="1A1A1A"/>
                </a:solidFill>
              </a:rPr>
              <a:t>분석 기준: APQC / ESCO / ISCO / O*NET / NCS 5개 국제 표준 참조</a:t>
            </a:r>
          </a:p>
          <a:p>
            <a:r>
              <a:rPr sz="1100" b="0">
                <a:solidFill>
                  <a:srgbClr val="1A1A1A"/>
                </a:solidFill>
              </a:rPr>
              <a:t>직군→직렬→직무 3단계 분류체계 샘플</a:t>
            </a:r>
          </a:p>
          <a:p>
            <a:r>
              <a:rPr sz="1100" b="0">
                <a:solidFill>
                  <a:srgbClr val="1A1A1A"/>
                </a:solidFill>
              </a:rPr>
              <a:t>스킬 디렉토리 샘플 (직무별 KSAO, 스킬 클러스터, PMI 공동출현 분석 포함)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II. 평가제도 개선   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평가제도 개선   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평가제도 설계 시 도출된 직무체계를 바탕으로 직무에 특화된 평가 모델을 구축해 운영 프로세스를 개선할 수 있는 방향성을 검토함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Step 1. Criteria — 평가 원칙 수립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평가 종류(성과/역량)·목표 관리 프레임워크(KPI)·직급/직군별 가중치 등 평가 지표 및 체계에 대한 원칙 논의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Step 2. Process — 평가 운영체계 개선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평가 권한·단위·등급·프로세스·모니터링 등 평가 운영 전반에 대한 프로세스 개편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필요 시 성과관리 시스템 기반 제도 구축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Step 3. Application — 결과 활용 및 타 Module 연계 방안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보상 차등의 기준으로 활용 가능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필요 시 리더십을 포함한 인재 육성 및 저성과자 관리 방안 제시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II. 평가제도 개선    직군별 차별화 평가모델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평가제도 개선    직군별 차별화 평가모델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"각 직군별 업무 특성을 반영한 평가제도 마련으로 인력 관리의 효과성 제고 및 성과 향상 지원"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[R&amp;D 및 신사업] 프로젝트 마일스톤 Output 중심 평가·R&amp;D 장기 성과급 체계 도입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→ 마일스톤 중심의 장기 성과 인정, 기술 경쟁력 확보 관점의 인력 관리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[영업] 채널 난이도에 따른 가중치 반영 평가·개인 성과 비율 확대(인센티브 비중 강화)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→ 목표 달성에 따른 성과/보상연계 강조 및 개인 성과 인정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[생산] 절대적 달성 수준 기반 평가(절대평가 고려)·조직 성과와 연계된 보상제도 수립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→ 조직 단위 성과 발현, 반복/절대적 수행 업무 관리 중요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[경영지원] 핵심 과제 중심으로 목표 설정·팀간 협업 지표를 목표에 반영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→ 핵심 과제 중심의 상시성과관리 및 협업에 대한 정성 목표 설정 체계화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9BD5"/>
                </a:solidFill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9171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887"/>
                </a:solidFill>
              </a:rPr>
              <a:t>[참고] AI 기반 업무 Check-in 시스템 활용 예시 (사무직 한정)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9171432" cy="127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926287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</a:rPr>
              <a:t>HCG 자체 상시성과관리 시스템 talenx — AI 기반 목표 설정/체크인/피드백 지원</a:t>
            </a:r>
          </a:p>
          <a:p>
            <a:r>
              <a:rPr sz="1100" b="0">
                <a:solidFill>
                  <a:srgbClr val="1A1A1A"/>
                </a:solidFill>
              </a:rPr>
              <a:t/>
            </a:r>
          </a:p>
          <a:p>
            <a:r>
              <a:rPr sz="1100" b="0">
                <a:solidFill>
                  <a:srgbClr val="1A1A1A"/>
                </a:solidFill>
              </a:rPr>
              <a:t>직원별 직무/목표/성과 Data를 분석해 조직 성과 방향과 정렬된 핵심성과지표 제안</a:t>
            </a:r>
          </a:p>
          <a:p>
            <a:r>
              <a:rPr sz="1100" b="0">
                <a:solidFill>
                  <a:srgbClr val="1A1A1A"/>
                </a:solidFill>
              </a:rPr>
              <a:t>AI를 활용한 목표 설정 / 체크인 / 피드백까지 데이터 기반의 평가 체계 전환에 용이</a:t>
            </a:r>
          </a:p>
          <a:p>
            <a:r>
              <a:rPr sz="1100" b="0">
                <a:solidFill>
                  <a:srgbClr val="1A1A1A"/>
                </a:solidFill>
              </a:rPr>
              <a:t/>
            </a:r>
          </a:p>
          <a:p>
            <a:r>
              <a:rPr sz="1100" b="0">
                <a:solidFill>
                  <a:srgbClr val="1A1A1A"/>
                </a:solidFill>
              </a:rPr>
              <a:t>※ 체크인(상시성과관리)은 사무직에 한하여 적용 — 생산직은 KPI 기반 절대평가 적용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II. 평가제도 개선    평가운영체계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평가제도 개선    평가운영체계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정비된 평가제도에 따라 평가 등급, 평가 프로세스, 평가 결과 활용 등의 운영체계를 개선함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평가 등급 기준 재정립 (절대/상대 혼합 기준 설계)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평가 프로세스 단계별 가이드: 목표설정 → 중간점검 → 최종평가 → 결과 통보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이의신청 온라인 채널 구축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평가 결과의 보상 연계 비율 및 기준 명확화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저성과자 관리 프로세스 수립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II. 보상제도 개선   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보상제도 개선   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보상제도 설계 시 보상의 외부 경쟁력 및 내부 형평성을 종합적으로 고려하여 보상 수준, 보상 구조, 보상 결정요인, 성과급 비중 등 개선 방향성을 검토함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Step 1. Pay Level — 보상 수준 조사 및 보상 전략 도출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경쟁업체와 비교 시 인재 확보/유지를 위한 보상 경쟁력 확인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직무/역할 특성을 고려한 내부 형평성 고려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Step 2. Pay Structure / Mix / Contributor — 보상 구조/비중/결정요인 체계화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전체 보상을 구성하는 항목/수준 검토(기본급·전사/개인 성과급 등)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보상을 결정 짓는 요소 선정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Step 3. Simulation — Cost Impact / 개인 총 보상 검증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개편될 보상제도를 기준으로 단기/중장기 비용 측면에서 Simulation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구성원 개인별 총 보상 변화 양상 검토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II. 보상제도 개선    보상 지향점/정책선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보상제도 개선    보상 지향점/정책선 설정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국내외 동종업계의 보상수준 Benchmarking을 통해 보상 경쟁력을 검토하고 보상 지향점/정책선을 설정함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Market Leading Line (75%ile) — 시장 선도 보상 수준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Market Matching Line (50%ile) — 시장 동등 보상 수준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Market Following Line (25%ile) — 시장 후발 보상 수준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동종업계의 보상수준 Benchmarking 통해 보상수준 비교 및 지향점 분석 시 활용 예정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II. 보상제도 개선    보상제도 설계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보상제도 개선    보상제도 설계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보상제도 설계 시 보상 비중/유형/지급 기준 등을 종합적으로 고려하며, 필요 시 직급단계 혹은 시장가치를 고려하여 보상 차별화 필요성을 검토할 것임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보상 전략과 원칙을 바탕으로 보상 구조/비중/결정요인을 다각도로 분석 및 설계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[직무 차별화]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직무별 Market 수준에 따라 기본급 Band 차별적 운영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직무 중심 차별화에 강력한 수단 / 직무 간 이동·배치에 제약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[직급 차별화]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직급별 내부 가치 및 개인 역량에 따른 차별화 실시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동일 직급 내 개인의 성과/역량에 따른 보상 차별화 유리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[직무 &amp; 직급 혼합] 두 방식의 장점을 결합하여 롯데알미늄 맥락에 최적화된 보상 설계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II. 보상제도 개선    보상 Simulation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보상제도 개선    보상 Simulation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보상 재설계에 따른 개인별 보상 수준의 변화를 확인하고, 이에 따른 재무적 Cost를 Simulation하여 조직 및 구성원 개인 관점의 효과성을 검증함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[Scenario 변동 요소]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성과급 비율 / 기본급 인상률 / 직무 등급별 Pay Band 범위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[전사 재무적 효과 Cost Simulation]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성과급 제도 실시에 따른 전사 및 기능/사업별 Cost 증감 효과 Simulation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[개인별 보상전환 Simulation]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To-Be 성과급 제도 적용 시 개인별 성과급 수준 변화 Simulation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[Scenario List] 보수적 / 중립적 / 공격적 3개 시나리오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Illustrative use only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9171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3887"/>
                </a:solidFill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5400" cy="521208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8988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Appendix.  HCG 소개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Appendix.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휴먼컨설팅그룹(이하 HCG)는 국내 최고/최대의 인사/조직 컨설팅 및 솔루션 전문 업체임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2001년 1월 법인 설립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컨설턴트 100명+ / 누적 고객사 870여 곳+ (2025년 01월 기준)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HR Solution (talenx·퍼플 등 자체 플랫폼 운영)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Appendix. 사업 영역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사업 영역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HCG는 한국적 기업 환경 이해와 인사·조직 전문성에 기반하여 경영 컨설팅과 솔루션 컨설팅, HR System Management/Outsourcing을 통합 서비스하는 HR Total Solution Provider임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[Mission] Make the Business Strategy Work Through HR Total Solution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[Strategy] HCG는 제도 컨설팅 뿐만 아니라 e-HR Solution, PO Service 등 HR Value Chain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  전 영역에 걸쳐 수준 높은 통합 서비스를 제공하여 고객의 궁극적인 비즈니스 전략 실행 및 성공을 지원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Appendix. 컨설팅 영역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컨설팅 영역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HCG는 핵심가치와 문화에 기반한 조직과 인재, 성과와 보상, Digital Analytics 등 HR 전 영역을 아우르는 컨설팅 서비스를 제공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[Performance &amp; Reward] 성과관리 혁신·역량관리·경력개발·총 보상 전략·임원 보상·글로벌 HR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[Organization &amp; Talent] 조직구조 설계·BPI·HR 거버넌스·인력계획·직무 중심 인재관리·채용 전략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[Corp. Value &amp; Culture] 기업 가치체계 수립·고용 브랜드 개선·직원 경험 관리·직원 인식 조사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[HR Transformation] HR 전략 수립·HR 서비스 모델 혁신·변화관리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[Digital Analytics] 디지털 HR전략·HR 테크놀로지·HR 데이터 분석·실시간 개인화 리포팅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13716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2600"/>
            <a:ext cx="9902952" cy="254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1645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887"/>
                </a:solidFill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2552" y="164592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Appendix. 주요 고객사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"/>
            <a:ext cx="9354312" cy="502920"/>
          </a:xfrm>
          <a:prstGeom prst="rect">
            <a:avLst/>
          </a:prstGeom>
          <a:solidFill>
            <a:srgbClr val="F2F6FF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917143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887"/>
                </a:solidFill>
              </a:rPr>
              <a:t>주요 고객사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9354312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9262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HCG는 다양한 산업영역에 걸쳐 870여 곳 이상의 고객사를 대상으로 Total HR Service를 제공하고 있음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92628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금융: KB라이프생명 / NH투자증권 / 파라다이스 / 한화손해보험 등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제조: 기아자동차 / 현대자동차 / 코오롱인더스트리 / 포스코인터내셔널 / 롯데 그룹사 등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IT·게임: 크래프톤 / SK머티리얼즈 / GS에너지 등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A1A1A"/>
                </a:solidFill>
              </a:rPr>
              <a:t>유통·소비재: 롯데백화점 / 코웨이 / 하이트진로음료 / 리파인 등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2952" cy="6858000"/>
          </a:xfrm>
          <a:prstGeom prst="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063240"/>
            <a:ext cx="9902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휴먼컨설팅그룹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